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1611428" cy="6579809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约一分钟。Θ代表待推断的共享参数π、η及所有位点配置，X是观测读数。三种离散假设仅用于说明贝叶斯重加权，并非三个细胞或三个已定义的(k,m)配置。先验分别0.6、0.3、0.1，似然分别0.1、0.8、0.2，乘积为0.06、0.24、0.02，总和0.32，归一化得到18.75%、75%、6.25%。似然三项不需要加和为1。实际模型用马尔可夫链蒙特卡洛近似联合后验，而不是仅比较三个候选值。后验的边缘汇总、MAP和FAM留到后续页讲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1_posterior_diagra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1611428" cy="6579809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270933" y="167978"/>
            <a:ext cx="11185676" cy="528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3200" b="1">
                <a:solidFill>
                  <a:srgbClr val="000000"/>
                </a:solidFill>
                <a:latin typeface="Arial"/>
              </a:rPr>
              <a:t>Posterior inference: update the whole parameter set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64457" y="883097"/>
            <a:ext cx="10992152" cy="2971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000000"/>
                </a:solidFill>
                <a:latin typeface="Arial"/>
              </a:rPr>
              <a:t>p(Θ | X) ∝ p(Θ) × p(X | Θ)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89523" y="883097"/>
            <a:ext cx="5167085" cy="2971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000000"/>
                </a:solidFill>
                <a:latin typeface="Arial"/>
              </a:rPr>
              <a:t>Posterior ∝ Prior × Likelihood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64457" y="1299173"/>
            <a:ext cx="10992152" cy="2971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000000"/>
                </a:solidFill>
                <a:latin typeface="Arial"/>
              </a:rPr>
              <a:t>Θ: π, η and all (kᵢ, mᵢ)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89523" y="1299173"/>
            <a:ext cx="5167085" cy="2971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000000"/>
                </a:solidFill>
                <a:latin typeface="Arial"/>
              </a:rPr>
              <a:t>X: observed read counts {(dᵢ, rᵢ)}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64457" y="2102297"/>
            <a:ext cx="10992152" cy="2971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000000"/>
                </a:solidFill>
                <a:latin typeface="Arial"/>
              </a:rPr>
              <a:t>Prior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1866" y="2731249"/>
            <a:ext cx="10914742" cy="2971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000000"/>
                </a:solidFill>
                <a:latin typeface="Arial"/>
              </a:rPr>
              <a:t>0.60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54742" y="4327821"/>
            <a:ext cx="10701866" cy="2971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000000"/>
                </a:solidFill>
                <a:latin typeface="Arial"/>
              </a:rPr>
              <a:t>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51428" y="3311821"/>
            <a:ext cx="10005180" cy="2971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000000"/>
                </a:solidFill>
                <a:latin typeface="Arial"/>
              </a:rPr>
              <a:t>0.30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664304" y="4327821"/>
            <a:ext cx="9792304" cy="2971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000000"/>
                </a:solidFill>
                <a:latin typeface="Arial"/>
              </a:rPr>
              <a:t>B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360990" y="3698868"/>
            <a:ext cx="9095619" cy="2971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000000"/>
                </a:solidFill>
                <a:latin typeface="Arial"/>
              </a:rPr>
              <a:t>0.10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573866" y="4327821"/>
            <a:ext cx="8882742" cy="2971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000000"/>
                </a:solidFill>
                <a:latin typeface="Arial"/>
              </a:rPr>
              <a:t>C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412342" y="2102297"/>
            <a:ext cx="7044266" cy="2971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000000"/>
                </a:solidFill>
                <a:latin typeface="Arial"/>
              </a:rPr>
              <a:t>Likelihood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489752" y="3698868"/>
            <a:ext cx="6966857" cy="2971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000000"/>
                </a:solidFill>
                <a:latin typeface="Arial"/>
              </a:rPr>
              <a:t>0.10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702628" y="4327821"/>
            <a:ext cx="6753980" cy="2971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000000"/>
                </a:solidFill>
                <a:latin typeface="Arial"/>
              </a:rPr>
              <a:t>A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399314" y="2344202"/>
            <a:ext cx="6057295" cy="2971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000000"/>
                </a:solidFill>
                <a:latin typeface="Arial"/>
              </a:rPr>
              <a:t>0.80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612190" y="4327821"/>
            <a:ext cx="5844419" cy="2971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000000"/>
                </a:solidFill>
                <a:latin typeface="Arial"/>
              </a:rPr>
              <a:t>B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08876" y="3505345"/>
            <a:ext cx="5147733" cy="2971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000000"/>
                </a:solidFill>
                <a:latin typeface="Arial"/>
              </a:rPr>
              <a:t>0.20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21752" y="4327821"/>
            <a:ext cx="4934857" cy="2971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000000"/>
                </a:solidFill>
                <a:latin typeface="Arial"/>
              </a:rPr>
              <a:t>C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360228" y="2102297"/>
            <a:ext cx="3096380" cy="2971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000000"/>
                </a:solidFill>
                <a:latin typeface="Arial"/>
              </a:rPr>
              <a:t>Posterior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437638" y="3529535"/>
            <a:ext cx="3018971" cy="2971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000000"/>
                </a:solidFill>
                <a:latin typeface="Arial"/>
              </a:rPr>
              <a:t>18.75%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650514" y="4327821"/>
            <a:ext cx="2806095" cy="2971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000000"/>
                </a:solidFill>
                <a:latin typeface="Arial"/>
              </a:rPr>
              <a:t>A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347200" y="2440964"/>
            <a:ext cx="2109409" cy="2971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000000"/>
                </a:solidFill>
                <a:latin typeface="Arial"/>
              </a:rPr>
              <a:t>75%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560076" y="4327821"/>
            <a:ext cx="1896533" cy="2971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000000"/>
                </a:solidFill>
                <a:latin typeface="Arial"/>
              </a:rPr>
              <a:t>B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256761" y="3771440"/>
            <a:ext cx="1199847" cy="2971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000000"/>
                </a:solidFill>
                <a:latin typeface="Arial"/>
              </a:rPr>
              <a:t>6.25%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469638" y="4327821"/>
            <a:ext cx="986971" cy="2971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000000"/>
                </a:solidFill>
                <a:latin typeface="Arial"/>
              </a:rPr>
              <a:t>C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735009" y="3253764"/>
            <a:ext cx="7721600" cy="2971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000000"/>
                </a:solidFill>
                <a:latin typeface="Arial"/>
              </a:rPr>
              <a:t>×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663542" y="3253764"/>
            <a:ext cx="3793066" cy="2971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000000"/>
                </a:solidFill>
                <a:latin typeface="Arial"/>
              </a:rPr>
              <a:t>→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64457" y="5063211"/>
            <a:ext cx="10992152" cy="2971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000000"/>
                </a:solidFill>
                <a:latin typeface="Arial"/>
              </a:rPr>
              <a:t>A, B, C: three example parameter hypotheses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64457" y="5614754"/>
            <a:ext cx="10992152" cy="2971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000000"/>
                </a:solidFill>
                <a:latin typeface="Arial"/>
              </a:rPr>
              <a:t>Markov chain Monte Carlo (MCMC)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64457" y="6001802"/>
            <a:ext cx="10992152" cy="2971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000000"/>
                </a:solidFill>
                <a:latin typeface="Arial"/>
              </a:rPr>
              <a:t>INCOMMON uses MCMC to approximate the joint posterior.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