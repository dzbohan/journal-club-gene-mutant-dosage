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左边历史配置计数经过处理构成浓度参数α。右边展示真实Dirichlet(60,30,10)密度，为三类别教学例子而非论文估计；历史计数柱仅为示意。三角形每个点对应一组总和为1的概率，三个顶点代表某一配置概率100%。深色表示较高概率密度，不是某单点有正概率。标出的十字是均值(0.6,0.3,0.1)，不是众数；Dirichlet可同时表达概率的中心与不确定性。α总和控制集中程度。实际模型不止三个配置。M和W沿用第一页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dens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From WGS experience to a prior over (k,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933" y="699249"/>
            <a:ext cx="1118567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Dirichlet describes uncertainty in the configuration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7047" y="1289497"/>
            <a:ext cx="1106956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Historical WGS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161" y="3234411"/>
            <a:ext cx="10953447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7ED3F6"/>
                </a:solidFill>
                <a:latin typeface="Arial"/>
              </a:rPr>
              <a:t>(2,1)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638" y="3234411"/>
            <a:ext cx="101309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2C86B"/>
                </a:solidFill>
                <a:latin typeface="Arial"/>
              </a:rPr>
              <a:t>(3,2)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114" y="3234411"/>
            <a:ext cx="93084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7FC7A5"/>
                </a:solidFill>
                <a:latin typeface="Arial"/>
              </a:rPr>
              <a:t>(1,1)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047" y="3708545"/>
            <a:ext cx="1106956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Smooth + pseudocounts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7047" y="4434259"/>
            <a:ext cx="1106956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α: concentration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8895" y="1289497"/>
            <a:ext cx="783771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Dirichlet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8895" y="1724926"/>
            <a:ext cx="783771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ψ ~ Dirichlet(α)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8895" y="2111973"/>
            <a:ext cx="783771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ψ: configuration probabilities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8895" y="2953802"/>
            <a:ext cx="783771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60% / 30% / 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8895" y="3582754"/>
            <a:ext cx="783771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52% / 35% / 13%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8895" y="4211707"/>
            <a:ext cx="783771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68% / 24% / 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8895" y="4676164"/>
            <a:ext cx="783771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Possible probability vectors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009" y="1289497"/>
            <a:ext cx="36576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Distribution over 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009" y="1724926"/>
            <a:ext cx="36576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Example α = (60, 30, 10)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504" y="2102297"/>
            <a:ext cx="24771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7ED3F6"/>
                </a:solidFill>
                <a:latin typeface="Arial"/>
              </a:rPr>
              <a:t>(2,1):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2209" y="4540697"/>
            <a:ext cx="34544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2C86B"/>
                </a:solidFill>
                <a:latin typeface="Arial"/>
              </a:rPr>
              <a:t>(3,2): 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1333" y="4540697"/>
            <a:ext cx="163527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7FC7A5"/>
                </a:solidFill>
                <a:latin typeface="Arial"/>
              </a:rPr>
              <a:t>(1,1): 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457" y="5411554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ED3F6"/>
                </a:solidFill>
                <a:latin typeface="Arial"/>
              </a:rPr>
              <a:t>(2,1)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8838" y="5721192"/>
            <a:ext cx="99277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114" y="5721192"/>
            <a:ext cx="93084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7523" y="5411554"/>
            <a:ext cx="7199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2C86B"/>
                </a:solidFill>
                <a:latin typeface="Arial"/>
              </a:rPr>
              <a:t>(3,2)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904" y="5721192"/>
            <a:ext cx="61347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1180" y="5721192"/>
            <a:ext cx="551542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0457" y="5721192"/>
            <a:ext cx="4896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0590" y="5411554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FC7A5"/>
                </a:solidFill>
                <a:latin typeface="Arial"/>
              </a:rPr>
              <a:t>(1,1)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4971" y="5721192"/>
            <a:ext cx="234163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457" y="6175973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M: specified mutation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8876" y="6175973"/>
            <a:ext cx="51477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W: no specified mutation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